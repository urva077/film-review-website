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Lst>
  <p:sldIdLst>
    <p:sldId id="256" r:id="rId2"/>
    <p:sldId id="257" r:id="rId3"/>
    <p:sldId id="258" r:id="rId4"/>
    <p:sldId id="264" r:id="rId5"/>
    <p:sldId id="262" r:id="rId6"/>
    <p:sldId id="259" r:id="rId7"/>
    <p:sldId id="265" r:id="rId8"/>
    <p:sldId id="263" r:id="rId9"/>
    <p:sldId id="261" r:id="rId10"/>
    <p:sldId id="260" r:id="rId11"/>
    <p:sldId id="267" r:id="rId12"/>
  </p:sldIdLst>
  <p:sldSz cx="12192000" cy="6858000"/>
  <p:notesSz cx="6858000" cy="9144000"/>
  <p:defaultTextStyle>
    <a:defPPr>
      <a:defRPr lang="hi-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4454425"/>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5899952"/>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484056"/>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945354"/>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6696557"/>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0251324"/>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810350"/>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945914"/>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2738117"/>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004824"/>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8/19/2020</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502402"/>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8/19/2020</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427411180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6" r:id="rId7"/>
    <p:sldLayoutId id="2147483752" r:id="rId8"/>
    <p:sldLayoutId id="2147483753" r:id="rId9"/>
    <p:sldLayoutId id="2147483754" r:id="rId10"/>
    <p:sldLayoutId id="2147483755" r:id="rId11"/>
  </p:sldLayoutIdLst>
  <p:transition spd="slow">
    <p:randomBar dir="ver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3C5560-7A9C-489F-9148-18C5E1D0F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9DC0C-3B5E-4F9F-9B5D-658FD9DE2981}"/>
              </a:ext>
            </a:extLst>
          </p:cNvPr>
          <p:cNvSpPr>
            <a:spLocks noGrp="1"/>
          </p:cNvSpPr>
          <p:nvPr>
            <p:ph type="ctrTitle"/>
          </p:nvPr>
        </p:nvSpPr>
        <p:spPr>
          <a:xfrm>
            <a:off x="1454365" y="1835705"/>
            <a:ext cx="5309140" cy="1431524"/>
          </a:xfrm>
        </p:spPr>
        <p:txBody>
          <a:bodyPr>
            <a:normAutofit/>
            <a:scene3d>
              <a:camera prst="orthographicFront"/>
              <a:lightRig rig="threePt" dir="t"/>
            </a:scene3d>
            <a:sp3d extrusionH="57150">
              <a:bevelT w="69850" h="38100" prst="cross"/>
            </a:sp3d>
          </a:bodyPr>
          <a:lstStyle/>
          <a:p>
            <a:r>
              <a:rPr lang="en-US" sz="4400" dirty="0">
                <a:effectLst>
                  <a:outerShdw blurRad="60007" dist="200025" dir="15000000" sy="30000" kx="-1800000" algn="bl" rotWithShape="0">
                    <a:prstClr val="black">
                      <a:alpha val="32000"/>
                    </a:prstClr>
                  </a:outerShdw>
                </a:effectLst>
              </a:rPr>
              <a:t>Chitkara University</a:t>
            </a:r>
            <a:endParaRPr lang="hi-IN" sz="4400" dirty="0">
              <a:effectLst>
                <a:outerShdw blurRad="60007" dist="200025" dir="15000000" sy="30000" kx="-1800000" algn="bl" rotWithShape="0">
                  <a:prstClr val="black">
                    <a:alpha val="32000"/>
                  </a:prstClr>
                </a:outerShdw>
              </a:effectLst>
            </a:endParaRPr>
          </a:p>
        </p:txBody>
      </p:sp>
      <p:sp>
        <p:nvSpPr>
          <p:cNvPr id="3" name="Subtitle 2">
            <a:extLst>
              <a:ext uri="{FF2B5EF4-FFF2-40B4-BE49-F238E27FC236}">
                <a16:creationId xmlns:a16="http://schemas.microsoft.com/office/drawing/2014/main" id="{EB9D5657-6F90-48C6-BB26-046838D3C487}"/>
              </a:ext>
            </a:extLst>
          </p:cNvPr>
          <p:cNvSpPr>
            <a:spLocks noGrp="1"/>
          </p:cNvSpPr>
          <p:nvPr>
            <p:ph type="subTitle" idx="1"/>
          </p:nvPr>
        </p:nvSpPr>
        <p:spPr>
          <a:xfrm>
            <a:off x="1231990" y="3505200"/>
            <a:ext cx="6320329" cy="1977455"/>
          </a:xfrm>
        </p:spPr>
        <p:txBody>
          <a:bodyPr>
            <a:normAutofit lnSpcReduction="10000"/>
          </a:bodyPr>
          <a:lstStyle/>
          <a:p>
            <a:r>
              <a:rPr lang="en-US" sz="2000" dirty="0">
                <a:solidFill>
                  <a:schemeClr val="bg1"/>
                </a:solidFill>
              </a:rPr>
              <a:t>Project name: IWT Project(Film Review website)</a:t>
            </a:r>
          </a:p>
          <a:p>
            <a:r>
              <a:rPr lang="en-US" sz="2000" dirty="0">
                <a:solidFill>
                  <a:schemeClr val="bg1"/>
                </a:solidFill>
              </a:rPr>
              <a:t>Submitted to: Mrs. Kanwalpreet Kour</a:t>
            </a:r>
          </a:p>
          <a:p>
            <a:r>
              <a:rPr lang="en-US" sz="2000" dirty="0">
                <a:solidFill>
                  <a:schemeClr val="bg1"/>
                </a:solidFill>
              </a:rPr>
              <a:t>Submitted by: Urva Sharma</a:t>
            </a:r>
          </a:p>
          <a:p>
            <a:r>
              <a:rPr lang="en-US" sz="2000" dirty="0">
                <a:solidFill>
                  <a:schemeClr val="bg1"/>
                </a:solidFill>
              </a:rPr>
              <a:t>Roll no. : 1910990682</a:t>
            </a:r>
          </a:p>
          <a:p>
            <a:r>
              <a:rPr lang="en-US" sz="2000" dirty="0">
                <a:solidFill>
                  <a:schemeClr val="bg1"/>
                </a:solidFill>
              </a:rPr>
              <a:t>Batch: 3Q-02</a:t>
            </a:r>
            <a:endParaRPr lang="hi-IN" sz="2000" dirty="0">
              <a:solidFill>
                <a:schemeClr val="bg1"/>
              </a:solidFill>
            </a:endParaRPr>
          </a:p>
        </p:txBody>
      </p:sp>
      <p:sp>
        <p:nvSpPr>
          <p:cNvPr id="11"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236" y="1606411"/>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a:p>
        </p:txBody>
      </p:sp>
      <p:sp>
        <p:nvSpPr>
          <p:cNvPr id="13"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014" y="183570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15"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696" y="2060130"/>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a:p>
        </p:txBody>
      </p:sp>
      <p:cxnSp>
        <p:nvCxnSpPr>
          <p:cNvPr id="17" name="Straight Connector 16">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50520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0836425" y="5436655"/>
            <a:ext cx="151536" cy="151536"/>
          </a:xfrm>
          <a:prstGeom prst="rect">
            <a:avLst/>
          </a:prstGeom>
        </p:spPr>
      </p:pic>
      <p:pic>
        <p:nvPicPr>
          <p:cNvPr id="21" name="Graphic 20">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11245175" y="5896734"/>
            <a:ext cx="108625" cy="108625"/>
          </a:xfrm>
          <a:prstGeom prst="rect">
            <a:avLst/>
          </a:prstGeom>
        </p:spPr>
      </p:pic>
      <p:pic>
        <p:nvPicPr>
          <p:cNvPr id="23" name="Graphic 22">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0554288" y="6038004"/>
            <a:ext cx="95759" cy="95759"/>
          </a:xfrm>
          <a:prstGeom prst="rect">
            <a:avLst/>
          </a:prstGeom>
        </p:spPr>
      </p:pic>
      <p:pic>
        <p:nvPicPr>
          <p:cNvPr id="4" name="Picture 3">
            <a:extLst>
              <a:ext uri="{FF2B5EF4-FFF2-40B4-BE49-F238E27FC236}">
                <a16:creationId xmlns:a16="http://schemas.microsoft.com/office/drawing/2014/main" id="{2865D0C8-F0A3-48D6-B566-4DB223407828}"/>
              </a:ext>
            </a:extLst>
          </p:cNvPr>
          <p:cNvPicPr>
            <a:picLocks noChangeAspect="1"/>
          </p:cNvPicPr>
          <p:nvPr/>
        </p:nvPicPr>
        <p:blipFill rotWithShape="1">
          <a:blip r:embed="rId8"/>
          <a:srcRect r="30708" b="1"/>
          <a:stretch/>
        </p:blipFill>
        <p:spPr>
          <a:xfrm>
            <a:off x="6740358" y="1606411"/>
            <a:ext cx="5451642" cy="5251590"/>
          </a:xfrm>
          <a:custGeom>
            <a:avLst/>
            <a:gdLst/>
            <a:ahLst/>
            <a:cxnLst/>
            <a:rect l="l" t="t" r="r" b="b"/>
            <a:pathLst>
              <a:path w="5923214" h="5705857">
                <a:moveTo>
                  <a:pt x="3612238" y="0"/>
                </a:moveTo>
                <a:cubicBezTo>
                  <a:pt x="4485043" y="0"/>
                  <a:pt x="5285549" y="309553"/>
                  <a:pt x="5909957" y="824860"/>
                </a:cubicBezTo>
                <a:lnTo>
                  <a:pt x="5923214" y="836909"/>
                </a:lnTo>
                <a:lnTo>
                  <a:pt x="5923214" y="5705857"/>
                </a:lnTo>
                <a:lnTo>
                  <a:pt x="672237" y="5705857"/>
                </a:lnTo>
                <a:lnTo>
                  <a:pt x="616914" y="5631875"/>
                </a:lnTo>
                <a:cubicBezTo>
                  <a:pt x="227427" y="5055358"/>
                  <a:pt x="0" y="4360357"/>
                  <a:pt x="0" y="3612238"/>
                </a:cubicBezTo>
                <a:cubicBezTo>
                  <a:pt x="0" y="1617255"/>
                  <a:pt x="1617255" y="0"/>
                  <a:pt x="3612238" y="0"/>
                </a:cubicBezTo>
                <a:close/>
              </a:path>
            </a:pathLst>
          </a:custGeom>
        </p:spPr>
      </p:pic>
      <p:pic>
        <p:nvPicPr>
          <p:cNvPr id="5" name="Picture 4">
            <a:extLst>
              <a:ext uri="{FF2B5EF4-FFF2-40B4-BE49-F238E27FC236}">
                <a16:creationId xmlns:a16="http://schemas.microsoft.com/office/drawing/2014/main" id="{83902F49-8DBE-404A-A7DA-819CD4EB807F}"/>
              </a:ext>
            </a:extLst>
          </p:cNvPr>
          <p:cNvPicPr>
            <a:picLocks noChangeAspect="1"/>
          </p:cNvPicPr>
          <p:nvPr/>
        </p:nvPicPr>
        <p:blipFill>
          <a:blip r:embed="rId9"/>
          <a:stretch>
            <a:fillRect/>
          </a:stretch>
        </p:blipFill>
        <p:spPr>
          <a:xfrm>
            <a:off x="5089644" y="2187843"/>
            <a:ext cx="923531" cy="901006"/>
          </a:xfrm>
          <a:prstGeom prst="rect">
            <a:avLst/>
          </a:prstGeom>
        </p:spPr>
      </p:pic>
    </p:spTree>
    <p:extLst>
      <p:ext uri="{BB962C8B-B14F-4D97-AF65-F5344CB8AC3E}">
        <p14:creationId xmlns:p14="http://schemas.microsoft.com/office/powerpoint/2010/main" val="613266412"/>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C187C-529A-4AEE-B2DC-3CEEA6B94F24}"/>
              </a:ext>
            </a:extLst>
          </p:cNvPr>
          <p:cNvSpPr>
            <a:spLocks noGrp="1"/>
          </p:cNvSpPr>
          <p:nvPr>
            <p:ph type="title"/>
          </p:nvPr>
        </p:nvSpPr>
        <p:spPr/>
        <p:txBody>
          <a:bodyPr/>
          <a:lstStyle/>
          <a:p>
            <a:r>
              <a:rPr lang="en-US" b="1" dirty="0">
                <a:solidFill>
                  <a:srgbClr val="00B0F0"/>
                </a:solidFill>
              </a:rPr>
              <a:t>INTRODUCTION</a:t>
            </a:r>
            <a:endParaRPr lang="hi-IN" b="1" dirty="0">
              <a:solidFill>
                <a:srgbClr val="00B0F0"/>
              </a:solidFill>
            </a:endParaRPr>
          </a:p>
        </p:txBody>
      </p:sp>
      <p:sp>
        <p:nvSpPr>
          <p:cNvPr id="3" name="Content Placeholder 2">
            <a:extLst>
              <a:ext uri="{FF2B5EF4-FFF2-40B4-BE49-F238E27FC236}">
                <a16:creationId xmlns:a16="http://schemas.microsoft.com/office/drawing/2014/main" id="{DA956C79-79EA-4E0A-855A-694C94C57AA0}"/>
              </a:ext>
            </a:extLst>
          </p:cNvPr>
          <p:cNvSpPr>
            <a:spLocks noGrp="1"/>
          </p:cNvSpPr>
          <p:nvPr>
            <p:ph idx="1"/>
          </p:nvPr>
        </p:nvSpPr>
        <p:spPr>
          <a:xfrm>
            <a:off x="1131163" y="1615859"/>
            <a:ext cx="10515600" cy="4877016"/>
          </a:xfrm>
        </p:spPr>
        <p:txBody>
          <a:bodyPr>
            <a:normAutofit/>
          </a:bodyPr>
          <a:lstStyle/>
          <a:p>
            <a:r>
              <a:rPr lang="en-US" dirty="0">
                <a:latin typeface="Bell MT" panose="02020503060305020303" pitchFamily="18" charset="0"/>
              </a:rPr>
              <a:t>The website is a Film review Website and name of the website is   					</a:t>
            </a:r>
            <a:r>
              <a:rPr lang="en-US" b="1" dirty="0">
                <a:solidFill>
                  <a:srgbClr val="FF0000"/>
                </a:solidFill>
                <a:latin typeface="Bell MT" panose="02020503060305020303" pitchFamily="18" charset="0"/>
              </a:rPr>
              <a:t>“SSR Reviews”.</a:t>
            </a:r>
          </a:p>
          <a:p>
            <a:r>
              <a:rPr lang="en-US" dirty="0">
                <a:latin typeface="Bell MT" panose="02020503060305020303" pitchFamily="18" charset="0"/>
              </a:rPr>
              <a:t>The first page of the website is a </a:t>
            </a:r>
            <a:r>
              <a:rPr lang="en-US" dirty="0">
                <a:solidFill>
                  <a:schemeClr val="accent4">
                    <a:lumMod val="75000"/>
                  </a:schemeClr>
                </a:solidFill>
                <a:latin typeface="Bell MT" panose="02020503060305020303" pitchFamily="18" charset="0"/>
              </a:rPr>
              <a:t>Sign up form</a:t>
            </a:r>
            <a:r>
              <a:rPr lang="en-US" dirty="0">
                <a:latin typeface="Bell MT" panose="02020503060305020303" pitchFamily="18" charset="0"/>
              </a:rPr>
              <a:t>, which asks for name, phone no., email id and a password.</a:t>
            </a:r>
          </a:p>
          <a:p>
            <a:r>
              <a:rPr lang="en-US" dirty="0">
                <a:latin typeface="Bell MT" panose="02020503060305020303" pitchFamily="18" charset="0"/>
              </a:rPr>
              <a:t>The second page of the website is the </a:t>
            </a:r>
            <a:r>
              <a:rPr lang="en-US" dirty="0">
                <a:solidFill>
                  <a:schemeClr val="accent4">
                    <a:lumMod val="75000"/>
                  </a:schemeClr>
                </a:solidFill>
                <a:latin typeface="Bell MT" panose="02020503060305020303" pitchFamily="18" charset="0"/>
              </a:rPr>
              <a:t>introduction about this website.</a:t>
            </a:r>
          </a:p>
          <a:p>
            <a:r>
              <a:rPr lang="en-US" dirty="0">
                <a:latin typeface="Bell MT" panose="02020503060305020303" pitchFamily="18" charset="0"/>
              </a:rPr>
              <a:t>The third page onwards, there is a </a:t>
            </a:r>
            <a:r>
              <a:rPr lang="en-US" dirty="0">
                <a:solidFill>
                  <a:schemeClr val="accent4">
                    <a:lumMod val="75000"/>
                  </a:schemeClr>
                </a:solidFill>
                <a:latin typeface="Bell MT" panose="02020503060305020303" pitchFamily="18" charset="0"/>
              </a:rPr>
              <a:t>detailed info of some of the films of an actor.</a:t>
            </a:r>
          </a:p>
          <a:p>
            <a:r>
              <a:rPr lang="en-US" dirty="0">
                <a:latin typeface="Bell MT" panose="02020503060305020303" pitchFamily="18" charset="0"/>
              </a:rPr>
              <a:t>A similar website can be created for any actor or any book or novel as one wishes to.</a:t>
            </a:r>
          </a:p>
        </p:txBody>
      </p:sp>
    </p:spTree>
    <p:extLst>
      <p:ext uri="{BB962C8B-B14F-4D97-AF65-F5344CB8AC3E}">
        <p14:creationId xmlns:p14="http://schemas.microsoft.com/office/powerpoint/2010/main" val="269289548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25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25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25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250"/>
                                        <p:tgtEl>
                                          <p:spTgt spid="3">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9"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4FE91-78EB-4794-89C3-26154DFF59A7}"/>
              </a:ext>
            </a:extLst>
          </p:cNvPr>
          <p:cNvSpPr>
            <a:spLocks noGrp="1"/>
          </p:cNvSpPr>
          <p:nvPr>
            <p:ph type="title"/>
          </p:nvPr>
        </p:nvSpPr>
        <p:spPr/>
        <p:txBody>
          <a:bodyPr/>
          <a:lstStyle/>
          <a:p>
            <a:r>
              <a:rPr lang="en-US" b="1" dirty="0">
                <a:solidFill>
                  <a:srgbClr val="00B0F0"/>
                </a:solidFill>
              </a:rPr>
              <a:t>USE OF HTML</a:t>
            </a:r>
            <a:endParaRPr lang="hi-IN" b="1" dirty="0">
              <a:solidFill>
                <a:srgbClr val="00B0F0"/>
              </a:solidFill>
            </a:endParaRPr>
          </a:p>
        </p:txBody>
      </p:sp>
      <p:sp>
        <p:nvSpPr>
          <p:cNvPr id="3" name="Content Placeholder 2">
            <a:extLst>
              <a:ext uri="{FF2B5EF4-FFF2-40B4-BE49-F238E27FC236}">
                <a16:creationId xmlns:a16="http://schemas.microsoft.com/office/drawing/2014/main" id="{2BEA225E-62B8-485C-8B8D-171ECF9931B1}"/>
              </a:ext>
            </a:extLst>
          </p:cNvPr>
          <p:cNvSpPr>
            <a:spLocks noGrp="1"/>
          </p:cNvSpPr>
          <p:nvPr>
            <p:ph idx="1"/>
          </p:nvPr>
        </p:nvSpPr>
        <p:spPr>
          <a:xfrm>
            <a:off x="838200" y="1825625"/>
            <a:ext cx="10515600" cy="4921404"/>
          </a:xfrm>
        </p:spPr>
        <p:txBody>
          <a:bodyPr>
            <a:normAutofit/>
          </a:bodyPr>
          <a:lstStyle/>
          <a:p>
            <a:pPr marL="0" indent="0">
              <a:buNone/>
            </a:pPr>
            <a:r>
              <a:rPr lang="en-US" dirty="0">
                <a:latin typeface="Bell MT" panose="02020503060305020303" pitchFamily="18" charset="0"/>
              </a:rPr>
              <a:t>In this website, I have used various HTML tags.</a:t>
            </a:r>
          </a:p>
          <a:p>
            <a:pPr>
              <a:buFont typeface="Wingdings" panose="05000000000000000000" pitchFamily="2" charset="2"/>
              <a:buChar char="§"/>
            </a:pPr>
            <a:r>
              <a:rPr lang="en-US" dirty="0">
                <a:latin typeface="Bell MT" panose="02020503060305020303" pitchFamily="18" charset="0"/>
              </a:rPr>
              <a:t>The </a:t>
            </a:r>
            <a:r>
              <a:rPr lang="en-US" dirty="0" err="1">
                <a:latin typeface="Bell MT" panose="02020503060305020303" pitchFamily="18" charset="0"/>
              </a:rPr>
              <a:t>img</a:t>
            </a:r>
            <a:r>
              <a:rPr lang="en-US" dirty="0">
                <a:latin typeface="Bell MT" panose="02020503060305020303" pitchFamily="18" charset="0"/>
              </a:rPr>
              <a:t>(image) tag has been used to set the background of all the pages as well as to add all the images of the actors in this website.</a:t>
            </a:r>
          </a:p>
          <a:p>
            <a:pPr marL="0" indent="0">
              <a:buNone/>
            </a:pPr>
            <a:endParaRPr lang="en-US" dirty="0">
              <a:latin typeface="Bell MT" panose="02020503060305020303" pitchFamily="18" charset="0"/>
            </a:endParaRPr>
          </a:p>
          <a:p>
            <a:pPr>
              <a:buFont typeface="Wingdings" panose="05000000000000000000" pitchFamily="2" charset="2"/>
              <a:buChar char="§"/>
            </a:pPr>
            <a:r>
              <a:rPr lang="en-US" dirty="0">
                <a:latin typeface="Bell MT" panose="02020503060305020303" pitchFamily="18" charset="0"/>
              </a:rPr>
              <a:t>The </a:t>
            </a:r>
            <a:r>
              <a:rPr lang="en-US" dirty="0" err="1">
                <a:latin typeface="Bell MT" panose="02020503060305020303" pitchFamily="18" charset="0"/>
              </a:rPr>
              <a:t>fieldset</a:t>
            </a:r>
            <a:r>
              <a:rPr lang="en-US" dirty="0">
                <a:latin typeface="Bell MT" panose="02020503060305020303" pitchFamily="18" charset="0"/>
              </a:rPr>
              <a:t> tag has been used to group several controls as well as labels within this web form.</a:t>
            </a:r>
          </a:p>
          <a:p>
            <a:pPr marL="0" indent="0">
              <a:buNone/>
            </a:pPr>
            <a:endParaRPr lang="en-US" dirty="0">
              <a:latin typeface="Bell MT" panose="02020503060305020303" pitchFamily="18" charset="0"/>
            </a:endParaRPr>
          </a:p>
          <a:p>
            <a:pPr>
              <a:buFont typeface="Wingdings" panose="05000000000000000000" pitchFamily="2" charset="2"/>
              <a:buChar char="§"/>
            </a:pPr>
            <a:r>
              <a:rPr lang="en-US" dirty="0">
                <a:latin typeface="Bell MT" panose="02020503060305020303" pitchFamily="18" charset="0"/>
              </a:rPr>
              <a:t>The form tag has been used to create a form for the user. This form contains labels, inputs field of type text, email, password and number.</a:t>
            </a:r>
          </a:p>
          <a:p>
            <a:pPr marL="0" indent="0">
              <a:buNone/>
            </a:pPr>
            <a:endParaRPr lang="en-US" dirty="0">
              <a:latin typeface="Bell MT" panose="02020503060305020303" pitchFamily="18" charset="0"/>
            </a:endParaRPr>
          </a:p>
        </p:txBody>
      </p:sp>
    </p:spTree>
    <p:extLst>
      <p:ext uri="{BB962C8B-B14F-4D97-AF65-F5344CB8AC3E}">
        <p14:creationId xmlns:p14="http://schemas.microsoft.com/office/powerpoint/2010/main" val="92314828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1" dur="500"/>
                                        <p:tgtEl>
                                          <p:spTgt spid="3">
                                            <p:txEl>
                                              <p:pRg st="1" end="1"/>
                                            </p:txEl>
                                          </p:spTgt>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5" dur="500"/>
                                        <p:tgtEl>
                                          <p:spTgt spid="3">
                                            <p:txEl>
                                              <p:pRg st="3" end="3"/>
                                            </p:txEl>
                                          </p:spTgt>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4A4B9-2E6D-4B52-BF1D-763F099A57CC}"/>
              </a:ext>
            </a:extLst>
          </p:cNvPr>
          <p:cNvSpPr>
            <a:spLocks noGrp="1"/>
          </p:cNvSpPr>
          <p:nvPr>
            <p:ph type="title"/>
          </p:nvPr>
        </p:nvSpPr>
        <p:spPr/>
        <p:txBody>
          <a:bodyPr/>
          <a:lstStyle/>
          <a:p>
            <a:r>
              <a:rPr lang="en-US" b="1" dirty="0">
                <a:solidFill>
                  <a:srgbClr val="00B0F0"/>
                </a:solidFill>
              </a:rPr>
              <a:t>USE OF HTML(</a:t>
            </a:r>
            <a:r>
              <a:rPr lang="en-US" b="1" dirty="0" err="1">
                <a:solidFill>
                  <a:srgbClr val="00B0F0"/>
                </a:solidFill>
              </a:rPr>
              <a:t>cont</a:t>
            </a:r>
            <a:r>
              <a:rPr lang="en-US" b="1" dirty="0">
                <a:solidFill>
                  <a:srgbClr val="00B0F0"/>
                </a:solidFill>
              </a:rPr>
              <a:t>…)</a:t>
            </a:r>
            <a:endParaRPr lang="hi-IN" b="1" dirty="0">
              <a:solidFill>
                <a:srgbClr val="00B0F0"/>
              </a:solidFill>
            </a:endParaRPr>
          </a:p>
        </p:txBody>
      </p:sp>
      <p:sp>
        <p:nvSpPr>
          <p:cNvPr id="3" name="Content Placeholder 2">
            <a:extLst>
              <a:ext uri="{FF2B5EF4-FFF2-40B4-BE49-F238E27FC236}">
                <a16:creationId xmlns:a16="http://schemas.microsoft.com/office/drawing/2014/main" id="{73738E2D-BD08-413F-A512-FFEFF4D3D431}"/>
              </a:ext>
            </a:extLst>
          </p:cNvPr>
          <p:cNvSpPr>
            <a:spLocks noGrp="1"/>
          </p:cNvSpPr>
          <p:nvPr>
            <p:ph idx="1"/>
          </p:nvPr>
        </p:nvSpPr>
        <p:spPr>
          <a:xfrm>
            <a:off x="838200" y="1926578"/>
            <a:ext cx="10515600" cy="4566297"/>
          </a:xfrm>
        </p:spPr>
        <p:txBody>
          <a:bodyPr/>
          <a:lstStyle/>
          <a:p>
            <a:pPr>
              <a:buFont typeface="Wingdings" panose="05000000000000000000" pitchFamily="2" charset="2"/>
              <a:buChar char="§"/>
            </a:pPr>
            <a:r>
              <a:rPr lang="en-US" dirty="0">
                <a:latin typeface="Bell MT" panose="02020503060305020303" pitchFamily="18" charset="0"/>
              </a:rPr>
              <a:t>The button tag has been used to create clickable button on this webpage.</a:t>
            </a:r>
          </a:p>
          <a:p>
            <a:pPr marL="0" indent="0">
              <a:buNone/>
            </a:pPr>
            <a:endParaRPr lang="en-US" dirty="0">
              <a:latin typeface="Bell MT" panose="02020503060305020303" pitchFamily="18" charset="0"/>
            </a:endParaRPr>
          </a:p>
          <a:p>
            <a:pPr>
              <a:buFont typeface="Wingdings" panose="05000000000000000000" pitchFamily="2" charset="2"/>
              <a:buChar char="§"/>
            </a:pPr>
            <a:r>
              <a:rPr lang="en-US" dirty="0">
                <a:latin typeface="Bell MT" panose="02020503060305020303" pitchFamily="18" charset="0"/>
              </a:rPr>
              <a:t>The table tag has been used to align the contents of the webpage in the first page.</a:t>
            </a:r>
          </a:p>
          <a:p>
            <a:pPr marL="0" indent="0">
              <a:buNone/>
            </a:pPr>
            <a:endParaRPr lang="en-US" dirty="0">
              <a:latin typeface="Bell MT" panose="02020503060305020303" pitchFamily="18" charset="0"/>
            </a:endParaRPr>
          </a:p>
          <a:p>
            <a:pPr>
              <a:buFont typeface="Wingdings" panose="05000000000000000000" pitchFamily="2" charset="2"/>
              <a:buChar char="§"/>
            </a:pPr>
            <a:r>
              <a:rPr lang="en-US" dirty="0">
                <a:latin typeface="Bell MT" panose="02020503060305020303" pitchFamily="18" charset="0"/>
              </a:rPr>
              <a:t>The anchor tag has been used to link the web pages. Also, it has been used as a link to external webpages.</a:t>
            </a:r>
          </a:p>
          <a:p>
            <a:pPr>
              <a:buFont typeface="Wingdings" panose="05000000000000000000" pitchFamily="2" charset="2"/>
              <a:buChar char="§"/>
            </a:pPr>
            <a:endParaRPr lang="hi-IN" dirty="0"/>
          </a:p>
        </p:txBody>
      </p:sp>
    </p:spTree>
    <p:extLst>
      <p:ext uri="{BB962C8B-B14F-4D97-AF65-F5344CB8AC3E}">
        <p14:creationId xmlns:p14="http://schemas.microsoft.com/office/powerpoint/2010/main" val="358905806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1" dur="500"/>
                                        <p:tgtEl>
                                          <p:spTgt spid="3">
                                            <p:txEl>
                                              <p:pRg st="2" end="2"/>
                                            </p:txEl>
                                          </p:spTgt>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37AE2-32FB-4C19-82F0-424AF808AEC0}"/>
              </a:ext>
            </a:extLst>
          </p:cNvPr>
          <p:cNvSpPr>
            <a:spLocks noGrp="1"/>
          </p:cNvSpPr>
          <p:nvPr>
            <p:ph type="title"/>
          </p:nvPr>
        </p:nvSpPr>
        <p:spPr/>
        <p:txBody>
          <a:bodyPr/>
          <a:lstStyle/>
          <a:p>
            <a:r>
              <a:rPr lang="en-US" b="1" dirty="0">
                <a:solidFill>
                  <a:srgbClr val="00B0F0"/>
                </a:solidFill>
              </a:rPr>
              <a:t>SIGN UP PAGE</a:t>
            </a:r>
            <a:endParaRPr lang="hi-IN" b="1" dirty="0">
              <a:solidFill>
                <a:srgbClr val="00B0F0"/>
              </a:solidFill>
            </a:endParaRPr>
          </a:p>
        </p:txBody>
      </p:sp>
      <p:pic>
        <p:nvPicPr>
          <p:cNvPr id="7" name="Content Placeholder 6">
            <a:extLst>
              <a:ext uri="{FF2B5EF4-FFF2-40B4-BE49-F238E27FC236}">
                <a16:creationId xmlns:a16="http://schemas.microsoft.com/office/drawing/2014/main" id="{9BB9F945-FE68-4056-AD9A-1209205265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8787" y="1485361"/>
            <a:ext cx="9679828" cy="5178980"/>
          </a:xfrm>
          <a:prstGeom prst="rect">
            <a:avLst/>
          </a:prstGeom>
          <a:ln>
            <a:noFill/>
          </a:ln>
          <a:effectLst>
            <a:outerShdw blurRad="292100" dist="139700" dir="2700000" algn="tl" rotWithShape="0">
              <a:srgbClr val="333333">
                <a:alpha val="65000"/>
              </a:srgbClr>
            </a:outerShdw>
          </a:effectLst>
        </p:spPr>
      </p:pic>
      <p:sp>
        <p:nvSpPr>
          <p:cNvPr id="8" name="Oval 7">
            <a:extLst>
              <a:ext uri="{FF2B5EF4-FFF2-40B4-BE49-F238E27FC236}">
                <a16:creationId xmlns:a16="http://schemas.microsoft.com/office/drawing/2014/main" id="{E5541D5C-E369-4A15-9678-932278D6D24A}"/>
              </a:ext>
            </a:extLst>
          </p:cNvPr>
          <p:cNvSpPr/>
          <p:nvPr/>
        </p:nvSpPr>
        <p:spPr>
          <a:xfrm>
            <a:off x="9945551" y="2028261"/>
            <a:ext cx="2101314" cy="132556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solidFill>
                  <a:srgbClr val="00B050"/>
                </a:solidFill>
              </a:rPr>
              <a:t>Emoticons</a:t>
            </a:r>
          </a:p>
          <a:p>
            <a:pPr algn="ctr"/>
            <a:r>
              <a:rPr lang="en-US" dirty="0">
                <a:solidFill>
                  <a:srgbClr val="00B050"/>
                </a:solidFill>
              </a:rPr>
              <a:t>Text validation</a:t>
            </a:r>
          </a:p>
        </p:txBody>
      </p:sp>
      <p:sp>
        <p:nvSpPr>
          <p:cNvPr id="4" name="Oval 3">
            <a:extLst>
              <a:ext uri="{FF2B5EF4-FFF2-40B4-BE49-F238E27FC236}">
                <a16:creationId xmlns:a16="http://schemas.microsoft.com/office/drawing/2014/main" id="{7F4B5CB0-A94A-458C-9EC4-5CCEC7CB09EA}"/>
              </a:ext>
            </a:extLst>
          </p:cNvPr>
          <p:cNvSpPr/>
          <p:nvPr/>
        </p:nvSpPr>
        <p:spPr>
          <a:xfrm>
            <a:off x="10093645" y="5016962"/>
            <a:ext cx="1805126" cy="147591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err="1">
                <a:solidFill>
                  <a:srgbClr val="FF0000"/>
                </a:solidFill>
              </a:rPr>
              <a:t>Fieldset</a:t>
            </a:r>
            <a:r>
              <a:rPr lang="en-IN" dirty="0">
                <a:solidFill>
                  <a:srgbClr val="FF0000"/>
                </a:solidFill>
              </a:rPr>
              <a:t> tag used</a:t>
            </a:r>
            <a:endParaRPr lang="hi-IN" dirty="0">
              <a:solidFill>
                <a:srgbClr val="FF0000"/>
              </a:solidFill>
            </a:endParaRPr>
          </a:p>
        </p:txBody>
      </p:sp>
    </p:spTree>
    <p:extLst>
      <p:ext uri="{BB962C8B-B14F-4D97-AF65-F5344CB8AC3E}">
        <p14:creationId xmlns:p14="http://schemas.microsoft.com/office/powerpoint/2010/main" val="166816007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3326-1917-4964-AE6D-A9F2A896FC64}"/>
              </a:ext>
            </a:extLst>
          </p:cNvPr>
          <p:cNvSpPr>
            <a:spLocks noGrp="1"/>
          </p:cNvSpPr>
          <p:nvPr>
            <p:ph type="title"/>
          </p:nvPr>
        </p:nvSpPr>
        <p:spPr>
          <a:xfrm>
            <a:off x="838200" y="382881"/>
            <a:ext cx="10515600" cy="1303876"/>
          </a:xfrm>
        </p:spPr>
        <p:txBody>
          <a:bodyPr/>
          <a:lstStyle/>
          <a:p>
            <a:r>
              <a:rPr lang="en-US" b="1" dirty="0">
                <a:solidFill>
                  <a:srgbClr val="00B0F0"/>
                </a:solidFill>
              </a:rPr>
              <a:t>USE OF CSS</a:t>
            </a:r>
            <a:endParaRPr lang="hi-IN" b="1" dirty="0">
              <a:solidFill>
                <a:srgbClr val="00B0F0"/>
              </a:solidFill>
            </a:endParaRPr>
          </a:p>
        </p:txBody>
      </p:sp>
      <p:sp>
        <p:nvSpPr>
          <p:cNvPr id="3" name="Content Placeholder 2">
            <a:extLst>
              <a:ext uri="{FF2B5EF4-FFF2-40B4-BE49-F238E27FC236}">
                <a16:creationId xmlns:a16="http://schemas.microsoft.com/office/drawing/2014/main" id="{CBF504DE-7AEC-4D96-B4D6-444A2832379B}"/>
              </a:ext>
            </a:extLst>
          </p:cNvPr>
          <p:cNvSpPr>
            <a:spLocks noGrp="1"/>
          </p:cNvSpPr>
          <p:nvPr>
            <p:ph idx="1"/>
          </p:nvPr>
        </p:nvSpPr>
        <p:spPr>
          <a:xfrm>
            <a:off x="838200" y="1686757"/>
            <a:ext cx="10515600" cy="5091344"/>
          </a:xfrm>
        </p:spPr>
        <p:txBody>
          <a:bodyPr>
            <a:normAutofit/>
          </a:bodyPr>
          <a:lstStyle/>
          <a:p>
            <a:pPr marL="0" indent="0">
              <a:buNone/>
            </a:pPr>
            <a:r>
              <a:rPr lang="en-US" dirty="0">
                <a:latin typeface="Bell MT" panose="02020503060305020303" pitchFamily="18" charset="0"/>
              </a:rPr>
              <a:t>CSS: Cascading Style Sheets</a:t>
            </a:r>
          </a:p>
          <a:p>
            <a:pPr>
              <a:buFont typeface="Wingdings" panose="05000000000000000000" pitchFamily="2" charset="2"/>
              <a:buChar char="§"/>
            </a:pPr>
            <a:r>
              <a:rPr lang="en-US" dirty="0">
                <a:latin typeface="Bell MT" panose="02020503060305020303" pitchFamily="18" charset="0"/>
              </a:rPr>
              <a:t>In every page of the website, I have used the font attributes such as font family to set the style of the font, font color to set the color of the text and the font size to set the size of the text in the website.</a:t>
            </a:r>
          </a:p>
          <a:p>
            <a:pPr marL="0" indent="0">
              <a:buNone/>
            </a:pPr>
            <a:endParaRPr lang="en-US" dirty="0">
              <a:latin typeface="Bell MT" panose="02020503060305020303" pitchFamily="18" charset="0"/>
            </a:endParaRPr>
          </a:p>
          <a:p>
            <a:pPr>
              <a:buFont typeface="Wingdings" panose="05000000000000000000" pitchFamily="2" charset="2"/>
              <a:buChar char="§"/>
            </a:pPr>
            <a:r>
              <a:rPr lang="en-US" dirty="0">
                <a:latin typeface="Bell MT" panose="02020503060305020303" pitchFamily="18" charset="0"/>
              </a:rPr>
              <a:t>The margin tag has been used to set the top and left margins for images as well as text in the website.</a:t>
            </a:r>
          </a:p>
          <a:p>
            <a:pPr marL="0" indent="0">
              <a:buNone/>
            </a:pPr>
            <a:endParaRPr lang="en-US" dirty="0">
              <a:latin typeface="Bell MT" panose="02020503060305020303" pitchFamily="18" charset="0"/>
            </a:endParaRPr>
          </a:p>
          <a:p>
            <a:pPr>
              <a:buFont typeface="Wingdings" panose="05000000000000000000" pitchFamily="2" charset="2"/>
              <a:buChar char="§"/>
            </a:pPr>
            <a:r>
              <a:rPr lang="en-US" dirty="0">
                <a:latin typeface="Bell MT" panose="02020503060305020303" pitchFamily="18" charset="0"/>
              </a:rPr>
              <a:t>The float property has been used to set the element on the left or right of its container.</a:t>
            </a:r>
          </a:p>
          <a:p>
            <a:pPr>
              <a:buFont typeface="Wingdings" panose="05000000000000000000" pitchFamily="2" charset="2"/>
              <a:buChar char="§"/>
            </a:pPr>
            <a:endParaRPr lang="en-US" dirty="0">
              <a:latin typeface="Bell MT" panose="02020503060305020303" pitchFamily="18" charset="0"/>
            </a:endParaRPr>
          </a:p>
          <a:p>
            <a:pPr>
              <a:buFont typeface="Wingdings" panose="05000000000000000000" pitchFamily="2" charset="2"/>
              <a:buChar char="§"/>
            </a:pPr>
            <a:endParaRPr lang="hi-IN" dirty="0">
              <a:latin typeface="Bell MT" panose="02020503060305020303" pitchFamily="18" charset="0"/>
            </a:endParaRPr>
          </a:p>
        </p:txBody>
      </p:sp>
    </p:spTree>
    <p:extLst>
      <p:ext uri="{BB962C8B-B14F-4D97-AF65-F5344CB8AC3E}">
        <p14:creationId xmlns:p14="http://schemas.microsoft.com/office/powerpoint/2010/main" val="406719399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4" dur="500"/>
                                        <p:tgtEl>
                                          <p:spTgt spid="3">
                                            <p:txEl>
                                              <p:pRg st="0" end="0"/>
                                            </p:txEl>
                                          </p:spTgt>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0" dur="500"/>
                                        <p:tgtEl>
                                          <p:spTgt spid="3">
                                            <p:txEl>
                                              <p:pRg st="3" end="3"/>
                                            </p:txEl>
                                          </p:spTgt>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8705-B9C4-4F15-B86A-0293A3458248}"/>
              </a:ext>
            </a:extLst>
          </p:cNvPr>
          <p:cNvSpPr>
            <a:spLocks noGrp="1"/>
          </p:cNvSpPr>
          <p:nvPr>
            <p:ph type="title"/>
          </p:nvPr>
        </p:nvSpPr>
        <p:spPr>
          <a:xfrm>
            <a:off x="838200" y="427270"/>
            <a:ext cx="10515600" cy="895504"/>
          </a:xfrm>
        </p:spPr>
        <p:txBody>
          <a:bodyPr/>
          <a:lstStyle/>
          <a:p>
            <a:r>
              <a:rPr lang="en-IN" b="1" dirty="0">
                <a:solidFill>
                  <a:srgbClr val="00B0F0"/>
                </a:solidFill>
              </a:rPr>
              <a:t>USE OF CSS (</a:t>
            </a:r>
            <a:r>
              <a:rPr lang="en-IN" b="1" dirty="0" err="1">
                <a:solidFill>
                  <a:srgbClr val="00B0F0"/>
                </a:solidFill>
              </a:rPr>
              <a:t>cont</a:t>
            </a:r>
            <a:r>
              <a:rPr lang="en-IN" b="1" dirty="0">
                <a:solidFill>
                  <a:srgbClr val="00B0F0"/>
                </a:solidFill>
              </a:rPr>
              <a:t>…)</a:t>
            </a:r>
            <a:endParaRPr lang="hi-IN" b="1" dirty="0">
              <a:solidFill>
                <a:srgbClr val="00B0F0"/>
              </a:solidFill>
            </a:endParaRPr>
          </a:p>
        </p:txBody>
      </p:sp>
      <p:sp>
        <p:nvSpPr>
          <p:cNvPr id="3" name="Content Placeholder 2">
            <a:extLst>
              <a:ext uri="{FF2B5EF4-FFF2-40B4-BE49-F238E27FC236}">
                <a16:creationId xmlns:a16="http://schemas.microsoft.com/office/drawing/2014/main" id="{00B44594-D313-4951-A9C6-124C397C68F4}"/>
              </a:ext>
            </a:extLst>
          </p:cNvPr>
          <p:cNvSpPr>
            <a:spLocks noGrp="1"/>
          </p:cNvSpPr>
          <p:nvPr>
            <p:ph idx="1"/>
          </p:nvPr>
        </p:nvSpPr>
        <p:spPr>
          <a:xfrm>
            <a:off x="838200" y="1447061"/>
            <a:ext cx="10515600" cy="5129397"/>
          </a:xfrm>
        </p:spPr>
        <p:txBody>
          <a:bodyPr/>
          <a:lstStyle/>
          <a:p>
            <a:pPr>
              <a:buFont typeface="Wingdings" panose="05000000000000000000" pitchFamily="2" charset="2"/>
              <a:buChar char="§"/>
            </a:pPr>
            <a:r>
              <a:rPr lang="en-US" dirty="0">
                <a:latin typeface="Bell MT" panose="02020503060305020303" pitchFamily="18" charset="0"/>
              </a:rPr>
              <a:t>The border tag has been used to give borders to the images. Different styles of the border tag have been used.</a:t>
            </a:r>
          </a:p>
          <a:p>
            <a:pPr marL="0" indent="0">
              <a:buNone/>
            </a:pPr>
            <a:endParaRPr lang="en-US" dirty="0">
              <a:latin typeface="Bell MT" panose="02020503060305020303" pitchFamily="18" charset="0"/>
            </a:endParaRPr>
          </a:p>
          <a:p>
            <a:pPr>
              <a:buFont typeface="Wingdings" panose="05000000000000000000" pitchFamily="2" charset="2"/>
              <a:buChar char="§"/>
            </a:pPr>
            <a:r>
              <a:rPr lang="en-US" dirty="0">
                <a:latin typeface="Bell MT" panose="02020503060305020303" pitchFamily="18" charset="0"/>
              </a:rPr>
              <a:t>UTF-8: 8 bit Unicode Transformation Format. This has been used to add an emoticon in the legend tag .</a:t>
            </a:r>
          </a:p>
          <a:p>
            <a:pPr marL="0" indent="0">
              <a:buNone/>
            </a:pPr>
            <a:r>
              <a:rPr lang="en-US" dirty="0">
                <a:latin typeface="Bell MT" panose="02020503060305020303" pitchFamily="18" charset="0"/>
              </a:rPr>
              <a:t> Different emoticons use different HTML code in the decimal format. For e.g. :&amp;#128515 </a:t>
            </a:r>
          </a:p>
          <a:p>
            <a:pPr marL="0" indent="0">
              <a:buNone/>
            </a:pPr>
            <a:endParaRPr lang="en-US" dirty="0">
              <a:latin typeface="Bell MT" panose="02020503060305020303" pitchFamily="18" charset="0"/>
            </a:endParaRPr>
          </a:p>
          <a:p>
            <a:pPr>
              <a:buFont typeface="Wingdings" panose="05000000000000000000" pitchFamily="2" charset="2"/>
              <a:buChar char="§"/>
            </a:pPr>
            <a:r>
              <a:rPr lang="en-US" dirty="0">
                <a:latin typeface="Bell MT" panose="02020503060305020303" pitchFamily="18" charset="0"/>
              </a:rPr>
              <a:t>Using the hover and opacity property, image effects have been added on some of the images.</a:t>
            </a:r>
          </a:p>
          <a:p>
            <a:pPr>
              <a:buFont typeface="Wingdings" panose="05000000000000000000" pitchFamily="2" charset="2"/>
              <a:buChar char="§"/>
            </a:pPr>
            <a:endParaRPr lang="hi-IN" dirty="0"/>
          </a:p>
        </p:txBody>
      </p:sp>
    </p:spTree>
    <p:extLst>
      <p:ext uri="{BB962C8B-B14F-4D97-AF65-F5344CB8AC3E}">
        <p14:creationId xmlns:p14="http://schemas.microsoft.com/office/powerpoint/2010/main" val="154273208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3" dur="500"/>
                                        <p:tgtEl>
                                          <p:spTgt spid="3">
                                            <p:txEl>
                                              <p:pRg st="0" end="0"/>
                                            </p:txEl>
                                          </p:spTgt>
                                        </p:tgtEl>
                                      </p:cBhvr>
                                    </p:animEffect>
                                  </p:childTnLst>
                                </p:cTn>
                              </p:par>
                            </p:childTnLst>
                          </p:cTn>
                        </p:par>
                        <p:par>
                          <p:cTn id="14" fill="hold">
                            <p:stCondLst>
                              <p:cond delay="1500"/>
                            </p:stCondLst>
                            <p:childTnLst>
                              <p:par>
                                <p:cTn id="15" presetID="14" presetClass="entr" presetSubtype="10" fill="hold"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par>
                          <p:cTn id="18" fill="hold">
                            <p:stCondLst>
                              <p:cond delay="2000"/>
                            </p:stCondLst>
                            <p:childTnLst>
                              <p:par>
                                <p:cTn id="19" presetID="14" presetClass="entr" presetSubtype="10" fill="hold"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1" dur="500"/>
                                        <p:tgtEl>
                                          <p:spTgt spid="3">
                                            <p:txEl>
                                              <p:pRg st="3" end="3"/>
                                            </p:txEl>
                                          </p:spTgt>
                                        </p:tgtEl>
                                      </p:cBhvr>
                                    </p:animEffect>
                                  </p:childTnLst>
                                </p:cTn>
                              </p:par>
                            </p:childTnLst>
                          </p:cTn>
                        </p:par>
                        <p:par>
                          <p:cTn id="22" fill="hold">
                            <p:stCondLst>
                              <p:cond delay="2500"/>
                            </p:stCondLst>
                            <p:childTnLst>
                              <p:par>
                                <p:cTn id="23" presetID="14" presetClass="entr" presetSubtype="10" fill="hold" nodeType="after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5CDCDB2-4711-48D8-9388-DD92C87998C1}"/>
              </a:ext>
            </a:extLst>
          </p:cNvPr>
          <p:cNvPicPr>
            <a:picLocks noGrp="1" noChangeAspect="1"/>
          </p:cNvPicPr>
          <p:nvPr>
            <p:ph idx="1"/>
          </p:nvPr>
        </p:nvPicPr>
        <p:blipFill>
          <a:blip r:embed="rId2"/>
          <a:stretch>
            <a:fillRect/>
          </a:stretch>
        </p:blipFill>
        <p:spPr>
          <a:xfrm>
            <a:off x="886750" y="399132"/>
            <a:ext cx="5429250" cy="1895475"/>
          </a:xfrm>
        </p:spPr>
      </p:pic>
      <p:sp>
        <p:nvSpPr>
          <p:cNvPr id="10" name="Arrow: Right 9">
            <a:extLst>
              <a:ext uri="{FF2B5EF4-FFF2-40B4-BE49-F238E27FC236}">
                <a16:creationId xmlns:a16="http://schemas.microsoft.com/office/drawing/2014/main" id="{1A31788D-E744-4378-9A21-CEA5C77872D6}"/>
              </a:ext>
            </a:extLst>
          </p:cNvPr>
          <p:cNvSpPr/>
          <p:nvPr/>
        </p:nvSpPr>
        <p:spPr>
          <a:xfrm>
            <a:off x="6445188" y="1047565"/>
            <a:ext cx="834501" cy="5770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2" name="Oval 11">
            <a:extLst>
              <a:ext uri="{FF2B5EF4-FFF2-40B4-BE49-F238E27FC236}">
                <a16:creationId xmlns:a16="http://schemas.microsoft.com/office/drawing/2014/main" id="{9EF0EFAF-50C2-4E0F-9FEF-C0EDB1529C4B}"/>
              </a:ext>
            </a:extLst>
          </p:cNvPr>
          <p:cNvSpPr/>
          <p:nvPr/>
        </p:nvSpPr>
        <p:spPr>
          <a:xfrm>
            <a:off x="7483875" y="552635"/>
            <a:ext cx="2601158" cy="142042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USE OF FONT ATTRIBUTES</a:t>
            </a:r>
            <a:endParaRPr lang="hi-IN" dirty="0"/>
          </a:p>
        </p:txBody>
      </p:sp>
      <p:pic>
        <p:nvPicPr>
          <p:cNvPr id="17" name="Picture 16">
            <a:extLst>
              <a:ext uri="{FF2B5EF4-FFF2-40B4-BE49-F238E27FC236}">
                <a16:creationId xmlns:a16="http://schemas.microsoft.com/office/drawing/2014/main" id="{63D3A866-5B83-4EB2-8FB2-F5B1732000C1}"/>
              </a:ext>
            </a:extLst>
          </p:cNvPr>
          <p:cNvPicPr>
            <a:picLocks noChangeAspect="1"/>
          </p:cNvPicPr>
          <p:nvPr/>
        </p:nvPicPr>
        <p:blipFill>
          <a:blip r:embed="rId3"/>
          <a:stretch>
            <a:fillRect/>
          </a:stretch>
        </p:blipFill>
        <p:spPr>
          <a:xfrm>
            <a:off x="6126979" y="2488336"/>
            <a:ext cx="2657475" cy="1981200"/>
          </a:xfrm>
          <a:prstGeom prst="rect">
            <a:avLst/>
          </a:prstGeom>
          <a:ln>
            <a:noFill/>
          </a:ln>
          <a:effectLst>
            <a:outerShdw blurRad="292100" dist="139700" dir="2700000" algn="tl" rotWithShape="0">
              <a:srgbClr val="333333">
                <a:alpha val="65000"/>
              </a:srgbClr>
            </a:outerShdw>
          </a:effectLst>
        </p:spPr>
      </p:pic>
      <p:sp>
        <p:nvSpPr>
          <p:cNvPr id="18" name="Arrow: Right 17">
            <a:extLst>
              <a:ext uri="{FF2B5EF4-FFF2-40B4-BE49-F238E27FC236}">
                <a16:creationId xmlns:a16="http://schemas.microsoft.com/office/drawing/2014/main" id="{529893ED-BB41-413C-B6B3-221EAB6EC75A}"/>
              </a:ext>
            </a:extLst>
          </p:cNvPr>
          <p:cNvSpPr/>
          <p:nvPr/>
        </p:nvSpPr>
        <p:spPr>
          <a:xfrm>
            <a:off x="8890709" y="3150462"/>
            <a:ext cx="1100832" cy="6569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9" name="Oval 18">
            <a:extLst>
              <a:ext uri="{FF2B5EF4-FFF2-40B4-BE49-F238E27FC236}">
                <a16:creationId xmlns:a16="http://schemas.microsoft.com/office/drawing/2014/main" id="{63AC8A3C-9FDA-4580-A4C2-47337B94ADD3}"/>
              </a:ext>
            </a:extLst>
          </p:cNvPr>
          <p:cNvSpPr/>
          <p:nvPr/>
        </p:nvSpPr>
        <p:spPr>
          <a:xfrm>
            <a:off x="10085033" y="2871925"/>
            <a:ext cx="2041864" cy="121402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Float property used</a:t>
            </a:r>
            <a:endParaRPr lang="hi-IN" dirty="0"/>
          </a:p>
        </p:txBody>
      </p:sp>
      <p:pic>
        <p:nvPicPr>
          <p:cNvPr id="22" name="Picture 21">
            <a:extLst>
              <a:ext uri="{FF2B5EF4-FFF2-40B4-BE49-F238E27FC236}">
                <a16:creationId xmlns:a16="http://schemas.microsoft.com/office/drawing/2014/main" id="{B60C155D-34DF-41C2-93CB-A3E194A1E8D3}"/>
              </a:ext>
            </a:extLst>
          </p:cNvPr>
          <p:cNvPicPr>
            <a:picLocks noChangeAspect="1"/>
          </p:cNvPicPr>
          <p:nvPr/>
        </p:nvPicPr>
        <p:blipFill>
          <a:blip r:embed="rId4"/>
          <a:stretch>
            <a:fillRect/>
          </a:stretch>
        </p:blipFill>
        <p:spPr>
          <a:xfrm>
            <a:off x="1952163" y="3603778"/>
            <a:ext cx="2533650" cy="3143250"/>
          </a:xfrm>
          <a:prstGeom prst="rect">
            <a:avLst/>
          </a:prstGeom>
        </p:spPr>
      </p:pic>
      <p:sp>
        <p:nvSpPr>
          <p:cNvPr id="23" name="Arrow: Right 22">
            <a:extLst>
              <a:ext uri="{FF2B5EF4-FFF2-40B4-BE49-F238E27FC236}">
                <a16:creationId xmlns:a16="http://schemas.microsoft.com/office/drawing/2014/main" id="{3F6E5944-88C1-4D84-9D74-B36623C84453}"/>
              </a:ext>
            </a:extLst>
          </p:cNvPr>
          <p:cNvSpPr/>
          <p:nvPr/>
        </p:nvSpPr>
        <p:spPr>
          <a:xfrm>
            <a:off x="4579305" y="5067199"/>
            <a:ext cx="1547674" cy="674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24" name="Oval 23">
            <a:extLst>
              <a:ext uri="{FF2B5EF4-FFF2-40B4-BE49-F238E27FC236}">
                <a16:creationId xmlns:a16="http://schemas.microsoft.com/office/drawing/2014/main" id="{28EFF1F6-D9E0-4B68-8E5B-5227DA551902}"/>
              </a:ext>
            </a:extLst>
          </p:cNvPr>
          <p:cNvSpPr/>
          <p:nvPr/>
        </p:nvSpPr>
        <p:spPr>
          <a:xfrm>
            <a:off x="6233234" y="4716531"/>
            <a:ext cx="2657475" cy="137603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Different Border colors and styles for every image </a:t>
            </a:r>
            <a:endParaRPr lang="hi-IN" dirty="0"/>
          </a:p>
        </p:txBody>
      </p:sp>
    </p:spTree>
    <p:extLst>
      <p:ext uri="{BB962C8B-B14F-4D97-AF65-F5344CB8AC3E}">
        <p14:creationId xmlns:p14="http://schemas.microsoft.com/office/powerpoint/2010/main" val="70192493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down)">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1000"/>
                                        <p:tgtEl>
                                          <p:spTgt spid="17"/>
                                        </p:tgtEl>
                                      </p:cBhvr>
                                    </p:animEffect>
                                    <p:anim calcmode="lin" valueType="num">
                                      <p:cBhvr>
                                        <p:cTn id="19" dur="1000" fill="hold"/>
                                        <p:tgtEl>
                                          <p:spTgt spid="17"/>
                                        </p:tgtEl>
                                        <p:attrNameLst>
                                          <p:attrName>ppt_x</p:attrName>
                                        </p:attrNameLst>
                                      </p:cBhvr>
                                      <p:tavLst>
                                        <p:tav tm="0">
                                          <p:val>
                                            <p:strVal val="#ppt_x"/>
                                          </p:val>
                                        </p:tav>
                                        <p:tav tm="100000">
                                          <p:val>
                                            <p:strVal val="#ppt_x"/>
                                          </p:val>
                                        </p:tav>
                                      </p:tavLst>
                                    </p:anim>
                                    <p:anim calcmode="lin" valueType="num">
                                      <p:cBhvr>
                                        <p:cTn id="20" dur="1000" fill="hold"/>
                                        <p:tgtEl>
                                          <p:spTgt spid="1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1000"/>
                                        <p:tgtEl>
                                          <p:spTgt spid="18"/>
                                        </p:tgtEl>
                                      </p:cBhvr>
                                    </p:animEffect>
                                    <p:anim calcmode="lin" valueType="num">
                                      <p:cBhvr>
                                        <p:cTn id="24" dur="1000" fill="hold"/>
                                        <p:tgtEl>
                                          <p:spTgt spid="18"/>
                                        </p:tgtEl>
                                        <p:attrNameLst>
                                          <p:attrName>ppt_x</p:attrName>
                                        </p:attrNameLst>
                                      </p:cBhvr>
                                      <p:tavLst>
                                        <p:tav tm="0">
                                          <p:val>
                                            <p:strVal val="#ppt_x"/>
                                          </p:val>
                                        </p:tav>
                                        <p:tav tm="100000">
                                          <p:val>
                                            <p:strVal val="#ppt_x"/>
                                          </p:val>
                                        </p:tav>
                                      </p:tavLst>
                                    </p:anim>
                                    <p:anim calcmode="lin" valueType="num">
                                      <p:cBhvr>
                                        <p:cTn id="25" dur="1000" fill="hold"/>
                                        <p:tgtEl>
                                          <p:spTgt spid="1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1000"/>
                                        <p:tgtEl>
                                          <p:spTgt spid="19"/>
                                        </p:tgtEl>
                                      </p:cBhvr>
                                    </p:animEffect>
                                    <p:anim calcmode="lin" valueType="num">
                                      <p:cBhvr>
                                        <p:cTn id="29" dur="1000" fill="hold"/>
                                        <p:tgtEl>
                                          <p:spTgt spid="19"/>
                                        </p:tgtEl>
                                        <p:attrNameLst>
                                          <p:attrName>ppt_x</p:attrName>
                                        </p:attrNameLst>
                                      </p:cBhvr>
                                      <p:tavLst>
                                        <p:tav tm="0">
                                          <p:val>
                                            <p:strVal val="#ppt_x"/>
                                          </p:val>
                                        </p:tav>
                                        <p:tav tm="100000">
                                          <p:val>
                                            <p:strVal val="#ppt_x"/>
                                          </p:val>
                                        </p:tav>
                                      </p:tavLst>
                                    </p:anim>
                                    <p:anim calcmode="lin" valueType="num">
                                      <p:cBhvr>
                                        <p:cTn id="3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ppt_x"/>
                                          </p:val>
                                        </p:tav>
                                        <p:tav tm="100000">
                                          <p:val>
                                            <p:strVal val="#ppt_x"/>
                                          </p:val>
                                        </p:tav>
                                      </p:tavLst>
                                    </p:anim>
                                    <p:anim calcmode="lin" valueType="num">
                                      <p:cBhvr additive="base">
                                        <p:cTn id="40" dur="500" fill="hold"/>
                                        <p:tgtEl>
                                          <p:spTgt spid="2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8" grpId="0" animBg="1"/>
      <p:bldP spid="19"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892D-05EE-42FD-8F7E-4C5225869E8B}"/>
              </a:ext>
            </a:extLst>
          </p:cNvPr>
          <p:cNvSpPr>
            <a:spLocks noGrp="1"/>
          </p:cNvSpPr>
          <p:nvPr>
            <p:ph type="title"/>
          </p:nvPr>
        </p:nvSpPr>
        <p:spPr>
          <a:xfrm>
            <a:off x="838200" y="365126"/>
            <a:ext cx="10515600" cy="886626"/>
          </a:xfrm>
        </p:spPr>
        <p:txBody>
          <a:bodyPr/>
          <a:lstStyle/>
          <a:p>
            <a:r>
              <a:rPr lang="en-US" b="1" dirty="0">
                <a:solidFill>
                  <a:srgbClr val="00B0F0"/>
                </a:solidFill>
              </a:rPr>
              <a:t>USE OF JAVASCRIPT</a:t>
            </a:r>
            <a:endParaRPr lang="hi-IN" b="1" dirty="0">
              <a:solidFill>
                <a:srgbClr val="00B0F0"/>
              </a:solidFill>
            </a:endParaRPr>
          </a:p>
        </p:txBody>
      </p:sp>
      <p:sp>
        <p:nvSpPr>
          <p:cNvPr id="3" name="Content Placeholder 2">
            <a:extLst>
              <a:ext uri="{FF2B5EF4-FFF2-40B4-BE49-F238E27FC236}">
                <a16:creationId xmlns:a16="http://schemas.microsoft.com/office/drawing/2014/main" id="{56582584-5A46-48DE-8336-69862363C713}"/>
              </a:ext>
            </a:extLst>
          </p:cNvPr>
          <p:cNvSpPr>
            <a:spLocks noGrp="1"/>
          </p:cNvSpPr>
          <p:nvPr>
            <p:ph idx="1"/>
          </p:nvPr>
        </p:nvSpPr>
        <p:spPr>
          <a:xfrm>
            <a:off x="838200" y="1247327"/>
            <a:ext cx="10515600" cy="4996233"/>
          </a:xfrm>
        </p:spPr>
        <p:txBody>
          <a:bodyPr>
            <a:normAutofit/>
          </a:bodyPr>
          <a:lstStyle/>
          <a:p>
            <a:pPr>
              <a:buFont typeface="Wingdings" panose="05000000000000000000" pitchFamily="2" charset="2"/>
              <a:buChar char="§"/>
            </a:pPr>
            <a:r>
              <a:rPr lang="en-US" sz="2400" dirty="0"/>
              <a:t>In this website, I have used JavaScript only in the form validations.</a:t>
            </a:r>
          </a:p>
          <a:p>
            <a:pPr>
              <a:buFont typeface="Wingdings" panose="05000000000000000000" pitchFamily="2" charset="2"/>
              <a:buChar char="§"/>
            </a:pPr>
            <a:r>
              <a:rPr lang="en-US" sz="2400" dirty="0"/>
              <a:t>For Example:</a:t>
            </a:r>
          </a:p>
          <a:p>
            <a:pPr marL="0" indent="0">
              <a:buNone/>
            </a:pPr>
            <a:endParaRPr lang="en-US" sz="2400" dirty="0"/>
          </a:p>
          <a:p>
            <a:pPr marL="0" indent="0">
              <a:buNone/>
            </a:pPr>
            <a:endParaRPr lang="hi-IN" sz="2400" dirty="0"/>
          </a:p>
        </p:txBody>
      </p:sp>
      <p:sp>
        <p:nvSpPr>
          <p:cNvPr id="4" name="Rectangle 3">
            <a:extLst>
              <a:ext uri="{FF2B5EF4-FFF2-40B4-BE49-F238E27FC236}">
                <a16:creationId xmlns:a16="http://schemas.microsoft.com/office/drawing/2014/main" id="{34ADC292-8213-49B6-A665-D57F012599F8}"/>
              </a:ext>
            </a:extLst>
          </p:cNvPr>
          <p:cNvSpPr/>
          <p:nvPr/>
        </p:nvSpPr>
        <p:spPr>
          <a:xfrm>
            <a:off x="1216241" y="2334827"/>
            <a:ext cx="2565646" cy="109417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If phone type entered </a:t>
            </a:r>
          </a:p>
          <a:p>
            <a:pPr algn="ctr"/>
            <a:r>
              <a:rPr lang="en-US" dirty="0"/>
              <a:t>Is invalid</a:t>
            </a:r>
            <a:endParaRPr lang="hi-IN" dirty="0"/>
          </a:p>
        </p:txBody>
      </p:sp>
      <p:sp>
        <p:nvSpPr>
          <p:cNvPr id="5" name="Arrow: Right 4">
            <a:extLst>
              <a:ext uri="{FF2B5EF4-FFF2-40B4-BE49-F238E27FC236}">
                <a16:creationId xmlns:a16="http://schemas.microsoft.com/office/drawing/2014/main" id="{7724E12E-1FF6-4F53-A53A-24742224E3EE}"/>
              </a:ext>
            </a:extLst>
          </p:cNvPr>
          <p:cNvSpPr/>
          <p:nvPr/>
        </p:nvSpPr>
        <p:spPr>
          <a:xfrm>
            <a:off x="3897297" y="2646655"/>
            <a:ext cx="1615736" cy="470516"/>
          </a:xfrm>
          <a:prstGeom prst="rightArrow">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hi-IN"/>
          </a:p>
        </p:txBody>
      </p:sp>
      <p:sp>
        <p:nvSpPr>
          <p:cNvPr id="6" name="Oval 5">
            <a:extLst>
              <a:ext uri="{FF2B5EF4-FFF2-40B4-BE49-F238E27FC236}">
                <a16:creationId xmlns:a16="http://schemas.microsoft.com/office/drawing/2014/main" id="{2C7DC90B-AD4C-48AE-9A8A-542F7E377F29}"/>
              </a:ext>
            </a:extLst>
          </p:cNvPr>
          <p:cNvSpPr/>
          <p:nvPr/>
        </p:nvSpPr>
        <p:spPr>
          <a:xfrm>
            <a:off x="5628443" y="2257147"/>
            <a:ext cx="2183907" cy="117185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Alert will be ”Pl enter a valid mobile no.”</a:t>
            </a:r>
            <a:endParaRPr lang="hi-IN" dirty="0"/>
          </a:p>
        </p:txBody>
      </p:sp>
      <p:sp>
        <p:nvSpPr>
          <p:cNvPr id="7" name="Rectangle 6">
            <a:extLst>
              <a:ext uri="{FF2B5EF4-FFF2-40B4-BE49-F238E27FC236}">
                <a16:creationId xmlns:a16="http://schemas.microsoft.com/office/drawing/2014/main" id="{32B05930-9C59-440B-B8D8-A91814E6CA83}"/>
              </a:ext>
            </a:extLst>
          </p:cNvPr>
          <p:cNvSpPr/>
          <p:nvPr/>
        </p:nvSpPr>
        <p:spPr>
          <a:xfrm>
            <a:off x="1216241" y="3918381"/>
            <a:ext cx="2565646" cy="109417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If email is entered incorrectly</a:t>
            </a:r>
            <a:endParaRPr lang="hi-IN" dirty="0"/>
          </a:p>
        </p:txBody>
      </p:sp>
      <p:sp>
        <p:nvSpPr>
          <p:cNvPr id="8" name="Arrow: Right 7">
            <a:extLst>
              <a:ext uri="{FF2B5EF4-FFF2-40B4-BE49-F238E27FC236}">
                <a16:creationId xmlns:a16="http://schemas.microsoft.com/office/drawing/2014/main" id="{5EEDBE8F-A422-4D13-99FD-58F40940E016}"/>
              </a:ext>
            </a:extLst>
          </p:cNvPr>
          <p:cNvSpPr/>
          <p:nvPr/>
        </p:nvSpPr>
        <p:spPr>
          <a:xfrm>
            <a:off x="3897297" y="4270158"/>
            <a:ext cx="1615736" cy="390617"/>
          </a:xfrm>
          <a:prstGeom prst="rightArrow">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hi-IN"/>
          </a:p>
        </p:txBody>
      </p:sp>
      <p:sp>
        <p:nvSpPr>
          <p:cNvPr id="9" name="Oval 8">
            <a:extLst>
              <a:ext uri="{FF2B5EF4-FFF2-40B4-BE49-F238E27FC236}">
                <a16:creationId xmlns:a16="http://schemas.microsoft.com/office/drawing/2014/main" id="{F0FCBF10-7457-46C4-BAF4-F759D2FFF13D}"/>
              </a:ext>
            </a:extLst>
          </p:cNvPr>
          <p:cNvSpPr/>
          <p:nvPr/>
        </p:nvSpPr>
        <p:spPr>
          <a:xfrm>
            <a:off x="5646199" y="3899839"/>
            <a:ext cx="2361461" cy="109417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Alert will be “Pl enter a valid email address”</a:t>
            </a:r>
            <a:endParaRPr lang="hi-IN" dirty="0"/>
          </a:p>
        </p:txBody>
      </p:sp>
      <p:sp>
        <p:nvSpPr>
          <p:cNvPr id="10" name="Rectangle 9">
            <a:extLst>
              <a:ext uri="{FF2B5EF4-FFF2-40B4-BE49-F238E27FC236}">
                <a16:creationId xmlns:a16="http://schemas.microsoft.com/office/drawing/2014/main" id="{25921220-64C5-4411-917C-946E403AC504}"/>
              </a:ext>
            </a:extLst>
          </p:cNvPr>
          <p:cNvSpPr/>
          <p:nvPr/>
        </p:nvSpPr>
        <p:spPr>
          <a:xfrm>
            <a:off x="1287262" y="5343216"/>
            <a:ext cx="2494625" cy="114965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If password length or type is entered incorrect</a:t>
            </a:r>
            <a:endParaRPr lang="hi-IN" dirty="0"/>
          </a:p>
        </p:txBody>
      </p:sp>
      <p:sp>
        <p:nvSpPr>
          <p:cNvPr id="11" name="Arrow: Right 10">
            <a:extLst>
              <a:ext uri="{FF2B5EF4-FFF2-40B4-BE49-F238E27FC236}">
                <a16:creationId xmlns:a16="http://schemas.microsoft.com/office/drawing/2014/main" id="{961083C8-E0E1-4495-B295-36D594CBD4C7}"/>
              </a:ext>
            </a:extLst>
          </p:cNvPr>
          <p:cNvSpPr/>
          <p:nvPr/>
        </p:nvSpPr>
        <p:spPr>
          <a:xfrm>
            <a:off x="3906175" y="5884567"/>
            <a:ext cx="1615736" cy="385037"/>
          </a:xfrm>
          <a:prstGeom prst="rightArrow">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hi-IN"/>
          </a:p>
        </p:txBody>
      </p:sp>
      <p:sp>
        <p:nvSpPr>
          <p:cNvPr id="12" name="Oval 11">
            <a:extLst>
              <a:ext uri="{FF2B5EF4-FFF2-40B4-BE49-F238E27FC236}">
                <a16:creationId xmlns:a16="http://schemas.microsoft.com/office/drawing/2014/main" id="{D7BC6989-D2A0-4751-A629-FCC58C0F16D7}"/>
              </a:ext>
            </a:extLst>
          </p:cNvPr>
          <p:cNvSpPr/>
          <p:nvPr/>
        </p:nvSpPr>
        <p:spPr>
          <a:xfrm>
            <a:off x="5646199" y="5530000"/>
            <a:ext cx="2636668" cy="109417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Alert will be “pl enter a valid password type”</a:t>
            </a:r>
            <a:endParaRPr lang="hi-IN" dirty="0"/>
          </a:p>
        </p:txBody>
      </p:sp>
    </p:spTree>
    <p:extLst>
      <p:ext uri="{BB962C8B-B14F-4D97-AF65-F5344CB8AC3E}">
        <p14:creationId xmlns:p14="http://schemas.microsoft.com/office/powerpoint/2010/main" val="426857115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ppt_w</p:attrName>
                                        </p:attrNameLst>
                                      </p:cBhvr>
                                      <p:tavLst>
                                        <p:tav tm="0">
                                          <p:val>
                                            <p:fltVal val="0"/>
                                          </p:val>
                                        </p:tav>
                                        <p:tav tm="100000">
                                          <p:val>
                                            <p:strVal val="#ppt_w"/>
                                          </p:val>
                                        </p:tav>
                                      </p:tavLst>
                                    </p:anim>
                                    <p:anim calcmode="lin" valueType="num">
                                      <p:cBhvr>
                                        <p:cTn id="29" dur="500" fill="hold"/>
                                        <p:tgtEl>
                                          <p:spTgt spid="4"/>
                                        </p:tgtEl>
                                        <p:attrNameLst>
                                          <p:attrName>ppt_h</p:attrName>
                                        </p:attrNameLst>
                                      </p:cBhvr>
                                      <p:tavLst>
                                        <p:tav tm="0">
                                          <p:val>
                                            <p:fltVal val="0"/>
                                          </p:val>
                                        </p:tav>
                                        <p:tav tm="100000">
                                          <p:val>
                                            <p:strVal val="#ppt_h"/>
                                          </p:val>
                                        </p:tav>
                                      </p:tavLst>
                                    </p:anim>
                                    <p:animEffect transition="in" filter="fade">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fill="hold"/>
                                        <p:tgtEl>
                                          <p:spTgt spid="5"/>
                                        </p:tgtEl>
                                        <p:attrNameLst>
                                          <p:attrName>ppt_w</p:attrName>
                                        </p:attrNameLst>
                                      </p:cBhvr>
                                      <p:tavLst>
                                        <p:tav tm="0">
                                          <p:val>
                                            <p:fltVal val="0"/>
                                          </p:val>
                                        </p:tav>
                                        <p:tav tm="100000">
                                          <p:val>
                                            <p:strVal val="#ppt_w"/>
                                          </p:val>
                                        </p:tav>
                                      </p:tavLst>
                                    </p:anim>
                                    <p:anim calcmode="lin" valueType="num">
                                      <p:cBhvr>
                                        <p:cTn id="36" dur="500" fill="hold"/>
                                        <p:tgtEl>
                                          <p:spTgt spid="5"/>
                                        </p:tgtEl>
                                        <p:attrNameLst>
                                          <p:attrName>ppt_h</p:attrName>
                                        </p:attrNameLst>
                                      </p:cBhvr>
                                      <p:tavLst>
                                        <p:tav tm="0">
                                          <p:val>
                                            <p:fltVal val="0"/>
                                          </p:val>
                                        </p:tav>
                                        <p:tav tm="100000">
                                          <p:val>
                                            <p:strVal val="#ppt_h"/>
                                          </p:val>
                                        </p:tav>
                                      </p:tavLst>
                                    </p:anim>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ppt_w</p:attrName>
                                        </p:attrNameLst>
                                      </p:cBhvr>
                                      <p:tavLst>
                                        <p:tav tm="0">
                                          <p:val>
                                            <p:fltVal val="0"/>
                                          </p:val>
                                        </p:tav>
                                        <p:tav tm="100000">
                                          <p:val>
                                            <p:strVal val="#ppt_w"/>
                                          </p:val>
                                        </p:tav>
                                      </p:tavLst>
                                    </p:anim>
                                    <p:anim calcmode="lin" valueType="num">
                                      <p:cBhvr>
                                        <p:cTn id="43" dur="500" fill="hold"/>
                                        <p:tgtEl>
                                          <p:spTgt spid="6"/>
                                        </p:tgtEl>
                                        <p:attrNameLst>
                                          <p:attrName>ppt_h</p:attrName>
                                        </p:attrNameLst>
                                      </p:cBhvr>
                                      <p:tavLst>
                                        <p:tav tm="0">
                                          <p:val>
                                            <p:fltVal val="0"/>
                                          </p:val>
                                        </p:tav>
                                        <p:tav tm="100000">
                                          <p:val>
                                            <p:strVal val="#ppt_h"/>
                                          </p:val>
                                        </p:tav>
                                      </p:tavLst>
                                    </p:anim>
                                    <p:animEffect transition="in" filter="fade">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p:cTn id="49" dur="500" fill="hold"/>
                                        <p:tgtEl>
                                          <p:spTgt spid="7"/>
                                        </p:tgtEl>
                                        <p:attrNameLst>
                                          <p:attrName>ppt_w</p:attrName>
                                        </p:attrNameLst>
                                      </p:cBhvr>
                                      <p:tavLst>
                                        <p:tav tm="0">
                                          <p:val>
                                            <p:fltVal val="0"/>
                                          </p:val>
                                        </p:tav>
                                        <p:tav tm="100000">
                                          <p:val>
                                            <p:strVal val="#ppt_w"/>
                                          </p:val>
                                        </p:tav>
                                      </p:tavLst>
                                    </p:anim>
                                    <p:anim calcmode="lin" valueType="num">
                                      <p:cBhvr>
                                        <p:cTn id="50" dur="500" fill="hold"/>
                                        <p:tgtEl>
                                          <p:spTgt spid="7"/>
                                        </p:tgtEl>
                                        <p:attrNameLst>
                                          <p:attrName>ppt_h</p:attrName>
                                        </p:attrNameLst>
                                      </p:cBhvr>
                                      <p:tavLst>
                                        <p:tav tm="0">
                                          <p:val>
                                            <p:fltVal val="0"/>
                                          </p:val>
                                        </p:tav>
                                        <p:tav tm="100000">
                                          <p:val>
                                            <p:strVal val="#ppt_h"/>
                                          </p:val>
                                        </p:tav>
                                      </p:tavLst>
                                    </p:anim>
                                    <p:animEffect transition="in" filter="fade">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 calcmode="lin" valueType="num">
                                      <p:cBhvr>
                                        <p:cTn id="56" dur="500" fill="hold"/>
                                        <p:tgtEl>
                                          <p:spTgt spid="8"/>
                                        </p:tgtEl>
                                        <p:attrNameLst>
                                          <p:attrName>ppt_w</p:attrName>
                                        </p:attrNameLst>
                                      </p:cBhvr>
                                      <p:tavLst>
                                        <p:tav tm="0">
                                          <p:val>
                                            <p:fltVal val="0"/>
                                          </p:val>
                                        </p:tav>
                                        <p:tav tm="100000">
                                          <p:val>
                                            <p:strVal val="#ppt_w"/>
                                          </p:val>
                                        </p:tav>
                                      </p:tavLst>
                                    </p:anim>
                                    <p:anim calcmode="lin" valueType="num">
                                      <p:cBhvr>
                                        <p:cTn id="57" dur="500" fill="hold"/>
                                        <p:tgtEl>
                                          <p:spTgt spid="8"/>
                                        </p:tgtEl>
                                        <p:attrNameLst>
                                          <p:attrName>ppt_h</p:attrName>
                                        </p:attrNameLst>
                                      </p:cBhvr>
                                      <p:tavLst>
                                        <p:tav tm="0">
                                          <p:val>
                                            <p:fltVal val="0"/>
                                          </p:val>
                                        </p:tav>
                                        <p:tav tm="100000">
                                          <p:val>
                                            <p:strVal val="#ppt_h"/>
                                          </p:val>
                                        </p:tav>
                                      </p:tavLst>
                                    </p:anim>
                                    <p:animEffect transition="in" filter="fade">
                                      <p:cBhvr>
                                        <p:cTn id="58" dur="5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 calcmode="lin" valueType="num">
                                      <p:cBhvr>
                                        <p:cTn id="63" dur="500" fill="hold"/>
                                        <p:tgtEl>
                                          <p:spTgt spid="9"/>
                                        </p:tgtEl>
                                        <p:attrNameLst>
                                          <p:attrName>ppt_w</p:attrName>
                                        </p:attrNameLst>
                                      </p:cBhvr>
                                      <p:tavLst>
                                        <p:tav tm="0">
                                          <p:val>
                                            <p:fltVal val="0"/>
                                          </p:val>
                                        </p:tav>
                                        <p:tav tm="100000">
                                          <p:val>
                                            <p:strVal val="#ppt_w"/>
                                          </p:val>
                                        </p:tav>
                                      </p:tavLst>
                                    </p:anim>
                                    <p:anim calcmode="lin" valueType="num">
                                      <p:cBhvr>
                                        <p:cTn id="64" dur="500" fill="hold"/>
                                        <p:tgtEl>
                                          <p:spTgt spid="9"/>
                                        </p:tgtEl>
                                        <p:attrNameLst>
                                          <p:attrName>ppt_h</p:attrName>
                                        </p:attrNameLst>
                                      </p:cBhvr>
                                      <p:tavLst>
                                        <p:tav tm="0">
                                          <p:val>
                                            <p:fltVal val="0"/>
                                          </p:val>
                                        </p:tav>
                                        <p:tav tm="100000">
                                          <p:val>
                                            <p:strVal val="#ppt_h"/>
                                          </p:val>
                                        </p:tav>
                                      </p:tavLst>
                                    </p:anim>
                                    <p:animEffect transition="in" filter="fade">
                                      <p:cBhvr>
                                        <p:cTn id="65" dur="500"/>
                                        <p:tgtEl>
                                          <p:spTgt spid="9"/>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0"/>
                                        </p:tgtEl>
                                        <p:attrNameLst>
                                          <p:attrName>style.visibility</p:attrName>
                                        </p:attrNameLst>
                                      </p:cBhvr>
                                      <p:to>
                                        <p:strVal val="visible"/>
                                      </p:to>
                                    </p:set>
                                    <p:anim calcmode="lin" valueType="num">
                                      <p:cBhvr>
                                        <p:cTn id="70" dur="500" fill="hold"/>
                                        <p:tgtEl>
                                          <p:spTgt spid="10"/>
                                        </p:tgtEl>
                                        <p:attrNameLst>
                                          <p:attrName>ppt_w</p:attrName>
                                        </p:attrNameLst>
                                      </p:cBhvr>
                                      <p:tavLst>
                                        <p:tav tm="0">
                                          <p:val>
                                            <p:fltVal val="0"/>
                                          </p:val>
                                        </p:tav>
                                        <p:tav tm="100000">
                                          <p:val>
                                            <p:strVal val="#ppt_w"/>
                                          </p:val>
                                        </p:tav>
                                      </p:tavLst>
                                    </p:anim>
                                    <p:anim calcmode="lin" valueType="num">
                                      <p:cBhvr>
                                        <p:cTn id="71" dur="500" fill="hold"/>
                                        <p:tgtEl>
                                          <p:spTgt spid="10"/>
                                        </p:tgtEl>
                                        <p:attrNameLst>
                                          <p:attrName>ppt_h</p:attrName>
                                        </p:attrNameLst>
                                      </p:cBhvr>
                                      <p:tavLst>
                                        <p:tav tm="0">
                                          <p:val>
                                            <p:fltVal val="0"/>
                                          </p:val>
                                        </p:tav>
                                        <p:tav tm="100000">
                                          <p:val>
                                            <p:strVal val="#ppt_h"/>
                                          </p:val>
                                        </p:tav>
                                      </p:tavLst>
                                    </p:anim>
                                    <p:animEffect transition="in" filter="fade">
                                      <p:cBhvr>
                                        <p:cTn id="72" dur="500"/>
                                        <p:tgtEl>
                                          <p:spTgt spid="10"/>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 calcmode="lin" valueType="num">
                                      <p:cBhvr>
                                        <p:cTn id="75" dur="500" fill="hold"/>
                                        <p:tgtEl>
                                          <p:spTgt spid="11"/>
                                        </p:tgtEl>
                                        <p:attrNameLst>
                                          <p:attrName>ppt_w</p:attrName>
                                        </p:attrNameLst>
                                      </p:cBhvr>
                                      <p:tavLst>
                                        <p:tav tm="0">
                                          <p:val>
                                            <p:fltVal val="0"/>
                                          </p:val>
                                        </p:tav>
                                        <p:tav tm="100000">
                                          <p:val>
                                            <p:strVal val="#ppt_w"/>
                                          </p:val>
                                        </p:tav>
                                      </p:tavLst>
                                    </p:anim>
                                    <p:anim calcmode="lin" valueType="num">
                                      <p:cBhvr>
                                        <p:cTn id="76" dur="500" fill="hold"/>
                                        <p:tgtEl>
                                          <p:spTgt spid="11"/>
                                        </p:tgtEl>
                                        <p:attrNameLst>
                                          <p:attrName>ppt_h</p:attrName>
                                        </p:attrNameLst>
                                      </p:cBhvr>
                                      <p:tavLst>
                                        <p:tav tm="0">
                                          <p:val>
                                            <p:fltVal val="0"/>
                                          </p:val>
                                        </p:tav>
                                        <p:tav tm="100000">
                                          <p:val>
                                            <p:strVal val="#ppt_h"/>
                                          </p:val>
                                        </p:tav>
                                      </p:tavLst>
                                    </p:anim>
                                    <p:animEffect transition="in" filter="fade">
                                      <p:cBhvr>
                                        <p:cTn id="77" dur="500"/>
                                        <p:tgtEl>
                                          <p:spTgt spid="11"/>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12"/>
                                        </p:tgtEl>
                                        <p:attrNameLst>
                                          <p:attrName>style.visibility</p:attrName>
                                        </p:attrNameLst>
                                      </p:cBhvr>
                                      <p:to>
                                        <p:strVal val="visible"/>
                                      </p:to>
                                    </p:set>
                                    <p:anim calcmode="lin" valueType="num">
                                      <p:cBhvr>
                                        <p:cTn id="80" dur="500" fill="hold"/>
                                        <p:tgtEl>
                                          <p:spTgt spid="12"/>
                                        </p:tgtEl>
                                        <p:attrNameLst>
                                          <p:attrName>ppt_w</p:attrName>
                                        </p:attrNameLst>
                                      </p:cBhvr>
                                      <p:tavLst>
                                        <p:tav tm="0">
                                          <p:val>
                                            <p:fltVal val="0"/>
                                          </p:val>
                                        </p:tav>
                                        <p:tav tm="100000">
                                          <p:val>
                                            <p:strVal val="#ppt_w"/>
                                          </p:val>
                                        </p:tav>
                                      </p:tavLst>
                                    </p:anim>
                                    <p:anim calcmode="lin" valueType="num">
                                      <p:cBhvr>
                                        <p:cTn id="81" dur="500" fill="hold"/>
                                        <p:tgtEl>
                                          <p:spTgt spid="12"/>
                                        </p:tgtEl>
                                        <p:attrNameLst>
                                          <p:attrName>ppt_h</p:attrName>
                                        </p:attrNameLst>
                                      </p:cBhvr>
                                      <p:tavLst>
                                        <p:tav tm="0">
                                          <p:val>
                                            <p:fltVal val="0"/>
                                          </p:val>
                                        </p:tav>
                                        <p:tav tm="100000">
                                          <p:val>
                                            <p:strVal val="#ppt_h"/>
                                          </p:val>
                                        </p:tav>
                                      </p:tavLst>
                                    </p:anim>
                                    <p:animEffect transition="in" filter="fade">
                                      <p:cBhvr>
                                        <p:cTn id="8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8C02AD-9306-46D2-B283-59D0825AE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30" y="229342"/>
            <a:ext cx="5925952" cy="5858993"/>
          </a:xfrm>
          <a:prstGeom prst="rect">
            <a:avLst/>
          </a:prstGeom>
          <a:ln>
            <a:noFill/>
          </a:ln>
          <a:effectLst>
            <a:outerShdw blurRad="190500" algn="tl" rotWithShape="0">
              <a:srgbClr val="000000">
                <a:alpha val="70000"/>
              </a:srgbClr>
            </a:outerShdw>
          </a:effectLst>
        </p:spPr>
      </p:pic>
      <p:sp>
        <p:nvSpPr>
          <p:cNvPr id="11" name="Oval 10">
            <a:extLst>
              <a:ext uri="{FF2B5EF4-FFF2-40B4-BE49-F238E27FC236}">
                <a16:creationId xmlns:a16="http://schemas.microsoft.com/office/drawing/2014/main" id="{45192B8B-EEDA-4454-AD1A-D76895B6FDE0}"/>
              </a:ext>
            </a:extLst>
          </p:cNvPr>
          <p:cNvSpPr/>
          <p:nvPr/>
        </p:nvSpPr>
        <p:spPr>
          <a:xfrm>
            <a:off x="9635231" y="122542"/>
            <a:ext cx="2086252" cy="1580225"/>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DOM form validation </a:t>
            </a:r>
            <a:endParaRPr lang="hi-IN" dirty="0"/>
          </a:p>
        </p:txBody>
      </p:sp>
      <p:sp>
        <p:nvSpPr>
          <p:cNvPr id="12" name="Oval 11">
            <a:extLst>
              <a:ext uri="{FF2B5EF4-FFF2-40B4-BE49-F238E27FC236}">
                <a16:creationId xmlns:a16="http://schemas.microsoft.com/office/drawing/2014/main" id="{BF4EDDBD-C925-41EA-B7A0-0982620E28BF}"/>
              </a:ext>
            </a:extLst>
          </p:cNvPr>
          <p:cNvSpPr/>
          <p:nvPr/>
        </p:nvSpPr>
        <p:spPr>
          <a:xfrm>
            <a:off x="7215379" y="1702767"/>
            <a:ext cx="2086252" cy="1580225"/>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t>Input fields accessed using array methods</a:t>
            </a:r>
            <a:endParaRPr lang="hi-IN" dirty="0"/>
          </a:p>
        </p:txBody>
      </p:sp>
      <p:sp>
        <p:nvSpPr>
          <p:cNvPr id="13" name="Oval 12">
            <a:extLst>
              <a:ext uri="{FF2B5EF4-FFF2-40B4-BE49-F238E27FC236}">
                <a16:creationId xmlns:a16="http://schemas.microsoft.com/office/drawing/2014/main" id="{4C61A173-EE06-4679-9AAE-734DA1877B14}"/>
              </a:ext>
            </a:extLst>
          </p:cNvPr>
          <p:cNvSpPr/>
          <p:nvPr/>
        </p:nvSpPr>
        <p:spPr>
          <a:xfrm>
            <a:off x="9635231" y="3282992"/>
            <a:ext cx="2541973" cy="150032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t>Use of function</a:t>
            </a:r>
          </a:p>
          <a:p>
            <a:pPr algn="ctr"/>
            <a:r>
              <a:rPr lang="en-IN" dirty="0" err="1"/>
              <a:t>checkValidity</a:t>
            </a:r>
            <a:r>
              <a:rPr lang="en-IN" dirty="0"/>
              <a:t>()</a:t>
            </a:r>
            <a:endParaRPr lang="hi-IN" dirty="0"/>
          </a:p>
        </p:txBody>
      </p:sp>
      <p:sp>
        <p:nvSpPr>
          <p:cNvPr id="14" name="Oval 13">
            <a:extLst>
              <a:ext uri="{FF2B5EF4-FFF2-40B4-BE49-F238E27FC236}">
                <a16:creationId xmlns:a16="http://schemas.microsoft.com/office/drawing/2014/main" id="{BA90807B-D46A-4A21-846A-CA3AC7711C98}"/>
              </a:ext>
            </a:extLst>
          </p:cNvPr>
          <p:cNvSpPr/>
          <p:nvPr/>
        </p:nvSpPr>
        <p:spPr>
          <a:xfrm>
            <a:off x="7215379" y="4783318"/>
            <a:ext cx="2246050" cy="1305017"/>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dirty="0">
                <a:solidFill>
                  <a:schemeClr val="bg1"/>
                </a:solidFill>
              </a:rPr>
              <a:t>Alerts used for the user to fill the fields</a:t>
            </a:r>
            <a:endParaRPr lang="hi-IN" dirty="0">
              <a:solidFill>
                <a:schemeClr val="bg1"/>
              </a:solidFill>
            </a:endParaRPr>
          </a:p>
        </p:txBody>
      </p:sp>
    </p:spTree>
    <p:extLst>
      <p:ext uri="{BB962C8B-B14F-4D97-AF65-F5344CB8AC3E}">
        <p14:creationId xmlns:p14="http://schemas.microsoft.com/office/powerpoint/2010/main" val="64656689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ircle(in)">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ircle(in)">
                                      <p:cBhvr>
                                        <p:cTn id="22" dur="2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circle(in)">
                                      <p:cBhvr>
                                        <p:cTn id="2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3C5560-7A9C-489F-9148-18C5E1D0F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236" y="1606411"/>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a:p>
        </p:txBody>
      </p:sp>
      <p:sp>
        <p:nvSpPr>
          <p:cNvPr id="13"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014" y="183570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15"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696" y="2060130"/>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a:p>
        </p:txBody>
      </p:sp>
      <p:cxnSp>
        <p:nvCxnSpPr>
          <p:cNvPr id="17" name="Straight Connector 16">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50520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0836425" y="5436655"/>
            <a:ext cx="151536" cy="151536"/>
          </a:xfrm>
          <a:prstGeom prst="rect">
            <a:avLst/>
          </a:prstGeom>
        </p:spPr>
      </p:pic>
      <p:pic>
        <p:nvPicPr>
          <p:cNvPr id="21" name="Graphic 20">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11245175" y="5896734"/>
            <a:ext cx="108625" cy="108625"/>
          </a:xfrm>
          <a:prstGeom prst="rect">
            <a:avLst/>
          </a:prstGeom>
        </p:spPr>
      </p:pic>
      <p:pic>
        <p:nvPicPr>
          <p:cNvPr id="23" name="Graphic 22">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0554288" y="6038004"/>
            <a:ext cx="95759" cy="95759"/>
          </a:xfrm>
          <a:prstGeom prst="rect">
            <a:avLst/>
          </a:prstGeom>
        </p:spPr>
      </p:pic>
      <p:pic>
        <p:nvPicPr>
          <p:cNvPr id="4" name="Picture 3">
            <a:extLst>
              <a:ext uri="{FF2B5EF4-FFF2-40B4-BE49-F238E27FC236}">
                <a16:creationId xmlns:a16="http://schemas.microsoft.com/office/drawing/2014/main" id="{2865D0C8-F0A3-48D6-B566-4DB223407828}"/>
              </a:ext>
            </a:extLst>
          </p:cNvPr>
          <p:cNvPicPr>
            <a:picLocks noChangeAspect="1"/>
          </p:cNvPicPr>
          <p:nvPr/>
        </p:nvPicPr>
        <p:blipFill rotWithShape="1">
          <a:blip r:embed="rId8"/>
          <a:srcRect r="30708" b="1"/>
          <a:stretch/>
        </p:blipFill>
        <p:spPr>
          <a:xfrm>
            <a:off x="6740358" y="1606411"/>
            <a:ext cx="5451642" cy="5251590"/>
          </a:xfrm>
          <a:custGeom>
            <a:avLst/>
            <a:gdLst/>
            <a:ahLst/>
            <a:cxnLst/>
            <a:rect l="l" t="t" r="r" b="b"/>
            <a:pathLst>
              <a:path w="5923214" h="5705857">
                <a:moveTo>
                  <a:pt x="3612238" y="0"/>
                </a:moveTo>
                <a:cubicBezTo>
                  <a:pt x="4485043" y="0"/>
                  <a:pt x="5285549" y="309553"/>
                  <a:pt x="5909957" y="824860"/>
                </a:cubicBezTo>
                <a:lnTo>
                  <a:pt x="5923214" y="836909"/>
                </a:lnTo>
                <a:lnTo>
                  <a:pt x="5923214" y="5705857"/>
                </a:lnTo>
                <a:lnTo>
                  <a:pt x="672237" y="5705857"/>
                </a:lnTo>
                <a:lnTo>
                  <a:pt x="616914" y="5631875"/>
                </a:lnTo>
                <a:cubicBezTo>
                  <a:pt x="227427" y="5055358"/>
                  <a:pt x="0" y="4360357"/>
                  <a:pt x="0" y="3612238"/>
                </a:cubicBezTo>
                <a:cubicBezTo>
                  <a:pt x="0" y="1617255"/>
                  <a:pt x="1617255" y="0"/>
                  <a:pt x="3612238" y="0"/>
                </a:cubicBezTo>
                <a:close/>
              </a:path>
            </a:pathLst>
          </a:custGeom>
        </p:spPr>
      </p:pic>
      <p:sp>
        <p:nvSpPr>
          <p:cNvPr id="14" name="Rectangle 13">
            <a:extLst>
              <a:ext uri="{FF2B5EF4-FFF2-40B4-BE49-F238E27FC236}">
                <a16:creationId xmlns:a16="http://schemas.microsoft.com/office/drawing/2014/main" id="{2AE8F4CC-8250-4ACB-84C3-4A64424D9240}"/>
              </a:ext>
            </a:extLst>
          </p:cNvPr>
          <p:cNvSpPr/>
          <p:nvPr/>
        </p:nvSpPr>
        <p:spPr>
          <a:xfrm>
            <a:off x="923843" y="1200656"/>
            <a:ext cx="6796417" cy="4339650"/>
          </a:xfrm>
          <a:prstGeom prst="rect">
            <a:avLst/>
          </a:prstGeom>
          <a:noFill/>
        </p:spPr>
        <p:txBody>
          <a:bodyPr wrap="square" lIns="91440" tIns="45720" rIns="91440" bIns="45720">
            <a:spAutoFit/>
          </a:bodyPr>
          <a:lstStyle/>
          <a:p>
            <a:pPr algn="ctr"/>
            <a:r>
              <a:rPr lang="en-US" sz="13800" b="1" i="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Ink Free" panose="03080402000500000000" pitchFamily="66" charset="0"/>
              </a:rPr>
              <a:t>Thank you!!!</a:t>
            </a:r>
            <a:endParaRPr lang="hi-IN" sz="13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221944195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p:cTn id="7"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4">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14">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docProps/app.xml><?xml version="1.0" encoding="utf-8"?>
<Properties xmlns="http://schemas.openxmlformats.org/officeDocument/2006/extended-properties" xmlns:vt="http://schemas.openxmlformats.org/officeDocument/2006/docPropsVTypes">
  <TotalTime>480</TotalTime>
  <Words>599</Words>
  <Application>Microsoft Office PowerPoint</Application>
  <PresentationFormat>Widescreen</PresentationFormat>
  <Paragraphs>62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Bell MT</vt:lpstr>
      <vt:lpstr>Ink Free</vt:lpstr>
      <vt:lpstr>Univers</vt:lpstr>
      <vt:lpstr>Wingdings</vt:lpstr>
      <vt:lpstr>GradientVTI</vt:lpstr>
      <vt:lpstr>Chitkara University</vt:lpstr>
      <vt:lpstr>INTRODUCTION</vt:lpstr>
      <vt:lpstr>USE OF HTML</vt:lpstr>
      <vt:lpstr>USE OF HTML(cont…)</vt:lpstr>
      <vt:lpstr>SIGN UP PAGE</vt:lpstr>
      <vt:lpstr>USE OF CSS</vt:lpstr>
      <vt:lpstr>USE OF CSS (cont…)</vt:lpstr>
      <vt:lpstr>PowerPoint Presentation</vt:lpstr>
      <vt:lpstr>USE OF JAVASCRIPT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Chitkara University</dc:title>
  <dc:creator>Urva Sharma</dc:creator>
  <cp:lastModifiedBy>Urva Sharma</cp:lastModifiedBy>
  <cp:revision>25</cp:revision>
  <dcterms:created xsi:type="dcterms:W3CDTF">2020-08-16T10:31:09Z</dcterms:created>
  <dcterms:modified xsi:type="dcterms:W3CDTF">2020-08-19T16:47:50Z</dcterms:modified>
</cp:coreProperties>
</file>